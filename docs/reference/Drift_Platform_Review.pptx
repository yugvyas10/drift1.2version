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lacial Indifference Bold" charset="1" panose="00000800000000000000"/>
      <p:regular r:id="rId21"/>
    </p:embeddedFont>
    <p:embeddedFont>
      <p:font typeface="Glacial Indifference" charset="1" panose="00000000000000000000"/>
      <p:regular r:id="rId22"/>
    </p:embeddedFont>
    <p:embeddedFont>
      <p:font typeface="Times New Roman MT" charset="1" panose="02030502070405020303"/>
      <p:regular r:id="rId23"/>
    </p:embeddedFont>
    <p:embeddedFont>
      <p:font typeface="League Spartan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i.org/10.1007/s10664-019-09765-y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i.org/10.1109/ICSME.2017.67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i.org/10.1007/s10515-021-00319-5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i.org/10.1145/3510003.3510132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i.org/10.1145/3180155.3180164" TargetMode="External" Type="http://schemas.openxmlformats.org/officeDocument/2006/relationships/hyperlink"/><Relationship Id="rId5" Target="https://doi.org/10.1145/3180155.3180164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028851" y="-185724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09" y="0"/>
                </a:moveTo>
                <a:lnTo>
                  <a:pt x="0" y="0"/>
                </a:lnTo>
                <a:lnTo>
                  <a:pt x="0" y="3525573"/>
                </a:lnTo>
                <a:lnTo>
                  <a:pt x="4478209" y="3525573"/>
                </a:lnTo>
                <a:lnTo>
                  <a:pt x="44782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124092" y="5954695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09"/>
                </a:lnTo>
                <a:lnTo>
                  <a:pt x="4478210" y="4478209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2790" y="81277"/>
            <a:ext cx="12008524" cy="20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3038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ENGINEERING DESIGN AND INNOVATION </a:t>
            </a:r>
            <a:r>
              <a:rPr lang="en-US" b="true" sz="3999">
                <a:solidFill>
                  <a:srgbClr val="3038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(EDI) PROJECT PRESENTATION FOR MID SEMESTER ASSESSMENT- SEPTEMBER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8423" y="2608750"/>
            <a:ext cx="14557257" cy="766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0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EDI1 PROJECT TITLE:-  DRIFT: CONTRACT-AWARE API REGRESSION SENTINEL AND</a:t>
            </a:r>
          </a:p>
          <a:p>
            <a:pPr algn="ctr">
              <a:lnSpc>
                <a:spcPts val="4305"/>
              </a:lnSpc>
            </a:pPr>
            <a:r>
              <a:rPr lang="en-US" sz="30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BEHAVIORAL COMPATIBILITY DETECTION TOOL FOR REST APIS</a:t>
            </a:r>
          </a:p>
          <a:p>
            <a:pPr algn="ctr">
              <a:lnSpc>
                <a:spcPts val="4305"/>
              </a:lnSpc>
            </a:pPr>
          </a:p>
          <a:p>
            <a:pPr algn="ctr">
              <a:lnSpc>
                <a:spcPts val="4305"/>
              </a:lnSpc>
            </a:pPr>
          </a:p>
          <a:p>
            <a:pPr algn="ctr">
              <a:lnSpc>
                <a:spcPts val="4305"/>
              </a:lnSpc>
            </a:pPr>
            <a:r>
              <a:rPr lang="en-US" sz="30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DIV : L    EDI_GROUP NO : 4    DAY: THURSDAY     DATE: 24/09/2026</a:t>
            </a:r>
          </a:p>
          <a:p>
            <a:pPr algn="ctr">
              <a:lnSpc>
                <a:spcPts val="4305"/>
              </a:lnSpc>
            </a:pPr>
          </a:p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PRESENTED BY – </a:t>
            </a:r>
          </a:p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1) PRUTHVI GANGAPURE (12415034 )</a:t>
            </a:r>
          </a:p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2) PRATHAMESH YEWALE (12413969)</a:t>
            </a:r>
          </a:p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3) TANISHQ CHAVAN (12415035 )</a:t>
            </a:r>
          </a:p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038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4) YUG VYAS   ( 12414125)</a:t>
            </a:r>
          </a:p>
          <a:p>
            <a:pPr algn="ctr">
              <a:lnSpc>
                <a:spcPts val="4305"/>
              </a:lnSpc>
            </a:pPr>
          </a:p>
          <a:p>
            <a:pPr algn="ctr">
              <a:lnSpc>
                <a:spcPts val="4165"/>
              </a:lnSpc>
            </a:pPr>
            <a:r>
              <a:rPr lang="en-US" b="true" sz="2975">
                <a:solidFill>
                  <a:srgbClr val="3038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DEPARTMENT OF COMPUTER ENGINEERING </a:t>
            </a:r>
          </a:p>
          <a:p>
            <a:pPr algn="ctr">
              <a:lnSpc>
                <a:spcPts val="4165"/>
              </a:lnSpc>
            </a:pPr>
            <a:r>
              <a:rPr lang="en-US" b="true" sz="2975">
                <a:solidFill>
                  <a:srgbClr val="3038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VISHWAKARMA INSTITUTE OF TECHNOLOGY, PUNE</a:t>
            </a:r>
          </a:p>
          <a:p>
            <a:pPr algn="ctr">
              <a:lnSpc>
                <a:spcPts val="43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93933" y="5972647"/>
            <a:ext cx="4487108" cy="89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448">
                <a:solidFill>
                  <a:srgbClr val="30387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GUIDE: </a:t>
            </a:r>
          </a:p>
          <a:p>
            <a:pPr algn="ctr">
              <a:lnSpc>
                <a:spcPts val="3428"/>
              </a:lnSpc>
            </a:pPr>
            <a:r>
              <a:rPr lang="en-US" sz="2448">
                <a:solidFill>
                  <a:srgbClr val="30387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PROF. (SMT) SANGITA LADE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08550" y="-1030923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6440" y="-125083"/>
            <a:ext cx="8932134" cy="11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2D38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041943" y="556293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143500" y="0"/>
                </a:lnTo>
                <a:lnTo>
                  <a:pt x="514350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867727"/>
            <a:ext cx="16942177" cy="118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Title: Every Build You Break: Developer-Oriented Assistance for Build Failure Resolution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071542" y="1305877"/>
            <a:ext cx="7860852" cy="3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Published in: Empirical Software Engineering, 2020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1728152"/>
          <a:ext cx="16590418" cy="10459593"/>
        </p:xfrm>
        <a:graphic>
          <a:graphicData uri="http://schemas.openxmlformats.org/drawingml/2006/table">
            <a:tbl>
              <a:tblPr/>
              <a:tblGrid>
                <a:gridCol w="703856"/>
                <a:gridCol w="2785841"/>
                <a:gridCol w="13100722"/>
              </a:tblGrid>
              <a:tr h="16222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Help developers understand and resolve CI build failures faster.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Reduce the manual effort of reading large and noisy build logs.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Provide concise failure summaries and recommend relevant solutions.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Integrate diagnosis support directly into a CI environment.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Methodology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 Developed BART (Build Abstraction and Recovery Tool) as a Jenkins plugin.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Analyzed failed Maven build logs to identify relevant error information.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Generated short, developer-readable summaries of build failures.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Retrieved related Stack Overflow discussions and solution recommendations based on the detected failure.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74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BART helped developers identify the important part of a failed build log more quickly.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tool improved access to relevant troubleshooting information during failure diagnosis.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evaluation showed that developer-oriented summaries and suggested solutions are useful for resolving broken builds.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06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educes information overload from lengthy raw CI logs.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Provides actionable support instead of only showing an error message.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Integrates with Jenkins, so assistance appears within the developer workflow.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Directly supports Drift’s future features: log inspector, failure explanation, and AI-based repair suggestion.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90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Primarily designed for Maven-based projects and Jenkins integration.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Depends on the quality and availability of relevant Stack Overflow solutions.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Focuses mainly on build-log diagnosis, not complete visual pipeline observability.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Does not provide a real-time interactive pipeline graph or targeted stage replay like Drift.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69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78316" y="147027"/>
            <a:ext cx="5412245" cy="69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DOI/URL: 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2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doi.org/10.1007/s10664-019-09765-y"/>
              </a:rPr>
              <a:t>10.1016/j.compbiomed.2023.107539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08550" y="-1030923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6440" y="-125083"/>
            <a:ext cx="8932134" cy="11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2D38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041943" y="556293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143500" y="0"/>
                </a:lnTo>
                <a:lnTo>
                  <a:pt x="514350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6628" y="793750"/>
            <a:ext cx="13514744" cy="118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Title: A Tale of CI Build Failures: An Open Source and a Financial Organization Perspective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8241" y="1305877"/>
            <a:ext cx="14807454" cy="3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Published in: IEEE International Conference on Software Maintenance and Evolution (ICSME), 2017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1728152"/>
          <a:ext cx="16590418" cy="10828782"/>
        </p:xfrm>
        <a:graphic>
          <a:graphicData uri="http://schemas.openxmlformats.org/drawingml/2006/table">
            <a:tbl>
              <a:tblPr/>
              <a:tblGrid>
                <a:gridCol w="703856"/>
                <a:gridCol w="2714327"/>
                <a:gridCol w="13172236"/>
              </a:tblGrid>
              <a:tr h="16221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Understand why Continuous Integration builds fail in real software projects.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Compare build failures in open-source projects and a financial organization.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Identify failure categories and their practical impact on developers.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Study how developers diagnose and repair CI build failures.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Methodology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Conducted an empirical study of failed CI builds from open-source and industrial contexts.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Examined build logs, project artifacts, and developer activities related to failures.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Classified failures into categories such as test failures, compilation errors, dependency problems, configuration issues, and infrastructure-related failures.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Compared the characteristics of failures between the two settings.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48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CI failures have multiple root causes; test, dependency, compilation, and configuration issues are common.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Failure diagnosis requires considerable developer effort because log information is often complex and scattered.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Open-source and industrial projects show both common and context-specific failure patterns.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47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Provides strong empirical evidence for the need for CI failure-analysis tools.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Gives useful failure categories for designing Drift’s classifier: code, config, environment, infrastructure, and flaky test.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Includes both industry and open-source perspectives.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Protects patient privacy by not exchanging raw EEG data.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Enables collaborative training across multiple hospitals.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Combines spatial (CNN) and temporal (LSTM) analysis for improved diagnostic accuracy.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1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Focus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es on studying failures rather than building a complete real-time solution.</a:t>
                      </a:r>
                      <a:endParaRPr lang="en-US" sz="1100"/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Does not provide an interactive pipeline visualization system.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failure taxonomy may require adaptation for newer CI/CD tools and cloud-native pipelines.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Does not directly implement automatic replay or remediation.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6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818019" y="-10783"/>
            <a:ext cx="5344907" cy="69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DOI/URL: 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2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doi.org/10.1109/ICSME.2017.67"/>
              </a:rPr>
              <a:t>10.1016/j.compbiomed.2023.107539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08550" y="-1030923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1557" y="-108573"/>
            <a:ext cx="8932134" cy="11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2D38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041943" y="556293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143500" y="0"/>
                </a:lnTo>
                <a:lnTo>
                  <a:pt x="514350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29674" y="793750"/>
            <a:ext cx="4228652" cy="3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Title:Build Failure Prediction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19590" y="1305877"/>
            <a:ext cx="8164756" cy="3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Published in: Automated Software Engineering, 2022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1728152"/>
          <a:ext cx="16590418" cy="9602343"/>
        </p:xfrm>
        <a:graphic>
          <a:graphicData uri="http://schemas.openxmlformats.org/drawingml/2006/table">
            <a:tbl>
              <a:tblPr/>
              <a:tblGrid>
                <a:gridCol w="703856"/>
                <a:gridCol w="2757235"/>
                <a:gridCol w="13129327"/>
              </a:tblGrid>
              <a:tr h="16224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Predict whether an upcoming CI build will pass or fail before the build completes.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Reduce time and computational cost caused by running failing builds.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Learn both short-term and long-term patterns from historical CI build outcomes.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Improve prediction performance over traditional machine-learning methods.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4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Methodology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Proposed DL-CIBuild, an LSTM-based recurrent neural-network model.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Used historical sequences of CI build outcomes as input data.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Applied a Genetic Algorithm to optimize LSTM hyperparameters.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Evaluated online and cross-project prediction scenarios using 91,330 CI builds from 10 long-lived Travis CI projects.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5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LSTM-based model outperformed traditional machine-learning baselines in build-outcome prediction.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model showed robustness to concept drift, where project behavior changes over time.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Genetic Algorithm tuning performed better than the compared hyperparameter-optimization approaches.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approach was less sensitive to training-set size than baseline methods.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4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Suppo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rts proactive CI/CD intelligence instead of only reactive failure analysis.</a:t>
                      </a:r>
                      <a:endParaRPr lang="en-US" sz="1100"/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Learns temporal patterns from previous pipeline runs.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Uses a large benchmark of 91,330 builds, increasing the credibility of evaluation.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Directly supports Drift’s future ML Failure Classification and predictive alerting roadmap.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64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edicts build outcome but does not explain the exact root cause of failure.</a:t>
                      </a:r>
                      <a:endParaRPr lang="en-US" sz="1100"/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Requires enough clean historical pipeline data for training.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LSTM model training and tuning increase computational complexity.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study is based on Travis CI projects, so results may vary for GitHub Actions, GitLab CI, Jenkins, or other platforms.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818019" y="-10783"/>
            <a:ext cx="5344907" cy="69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DOI/URL: 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2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doi.org/10.1007/s10515-021-00319-5"/>
              </a:rPr>
              <a:t>10.1016/j.compbiomed.2023.107539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08550" y="-1030923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7785" y="-115558"/>
            <a:ext cx="9069444" cy="11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2D38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041943" y="556293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143500" y="0"/>
                </a:lnTo>
                <a:lnTo>
                  <a:pt x="514350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97345" y="793750"/>
            <a:ext cx="3693310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Title: Test Failure Triage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7835" y="1305877"/>
            <a:ext cx="121882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Published in: International Conference on Software Engineering (ICSE), 2022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1728152"/>
          <a:ext cx="16590418" cy="10564368"/>
        </p:xfrm>
        <a:graphic>
          <a:graphicData uri="http://schemas.openxmlformats.org/drawingml/2006/table">
            <a:tbl>
              <a:tblPr/>
              <a:tblGrid>
                <a:gridCol w="703856"/>
                <a:gridCol w="2943173"/>
                <a:gridCol w="12943390"/>
              </a:tblGrid>
              <a:tr h="16221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Reduce the effort needed to diagnose large numbers of CI test failures.</a:t>
                      </a:r>
                      <a:endParaRPr lang="en-US" sz="1100"/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Group test failures caused by the same underlying fault.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Improve root-cause triage for broken CI builds.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 code changes to improve test-failure classification.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Methodology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Performed a large-scale empirical study of 163,371 broken builds caused by test failures in Java projects.</a:t>
                      </a:r>
                      <a:endParaRPr lang="en-US" sz="1100"/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Proposed BuildSheriff, a change-aware test-failure triage method.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Used information about changed code and failing tests to cluster failures with the same root cause.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Evaluated the approach on 200 broken CI builds against existing triage methods.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0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BuildSheriff significantly improved test-failure triage effectiveness compared with state-of-the-art approaches.</a:t>
                      </a:r>
                      <a:endParaRPr lang="en-US" sz="1100"/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Grouping failures by root cause can reduce duplicate debugging effort.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study confirmed that many individual test failures may originate from only a small number of underlying defects.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90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Reduces repeated manual investigation of similar test failures.</a:t>
                      </a:r>
                      <a:endParaRPr lang="en-US" sz="1100"/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Uses code-change information, making diagnosis more context-aware.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Evaluated on a large number of real broken CI builds.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Strong support for Drift’s Classify stage and root-cause grouping functionality.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90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Mainly focuses on test failures, not compilation, dependency, deployment, or infrastructure failures.</a:t>
                      </a:r>
                      <a:endParaRPr lang="en-US" sz="1100"/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Requires access to reliable code-change and test-execution data.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Does not provide interactive visualization of the whole pipeline.</a:t>
                      </a:r>
                    </a:p>
                    <a:p>
                      <a:pPr algn="l" marL="345441" indent="-172721" lvl="1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6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Does not directly provide automated repair or targeted replay.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6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153639" y="113034"/>
            <a:ext cx="5588000" cy="7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DOI/URL: </a:t>
            </a:r>
          </a:p>
          <a:p>
            <a:pPr algn="ctr">
              <a:lnSpc>
                <a:spcPts val="2875"/>
              </a:lnSpc>
              <a:spcBef>
                <a:spcPct val="0"/>
              </a:spcBef>
            </a:pPr>
            <a:r>
              <a:rPr lang="en-US" sz="23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doi.org/10.1145/3510003.3510132"/>
              </a:rPr>
              <a:t>10.1016/j.compbiomed.2023.107539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08550" y="-1030923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6440" y="-125083"/>
            <a:ext cx="8932134" cy="11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2D38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041943" y="556293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143500" y="0"/>
                </a:lnTo>
                <a:lnTo>
                  <a:pt x="514350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26748" y="793750"/>
            <a:ext cx="3834504" cy="3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Title: Flaky-Test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81259" y="1305877"/>
            <a:ext cx="11641418" cy="3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15E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Published in:  International Conference on Software Engineering (ICSE), 2018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1728152"/>
          <a:ext cx="16709066" cy="11221593"/>
        </p:xfrm>
        <a:graphic>
          <a:graphicData uri="http://schemas.openxmlformats.org/drawingml/2006/table">
            <a:tbl>
              <a:tblPr/>
              <a:tblGrid>
                <a:gridCol w="914146"/>
                <a:gridCol w="2747156"/>
                <a:gridCol w="13047764"/>
              </a:tblGrid>
              <a:tr h="16220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Automatically identify flaky tests in software projects.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Distinguish a real regression from a nondeterministic test failure.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Reduce wasted developer time caused by unreliable tests.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Improve trust in automated testing and CI results.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Methodology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Introduced DeFlaker, a tool for detecting tests that pass and fail without relevant source-code changes.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Analyzed test coverage and code changes across multiple test executions.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Checked whether a failing test executed code affected by the recent commit.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Classified a test as potentially flaky when its failure could not be explained by relevant code changes.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47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DeFlaker detected flaky tests more effectively than simple repeated-execution strategies in the evaluated projects.</a:t>
                      </a:r>
                      <a:endParaRPr lang="en-US" sz="1100"/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approach helped identify failures that were unlikely to be caused by recent code modifications.</a:t>
                      </a:r>
                    </a:p>
                    <a:p>
                      <a:pPr algn="l" marL="323852" indent="-161926" lvl="1">
                        <a:lnSpc>
                          <a:spcPts val="21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It reduced the risk of treating flaky failures as genuine regressions.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3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Helps devel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opers avoid spending time debugging nondeterministic failures.</a:t>
                      </a:r>
                      <a:endParaRPr lang="en-US" sz="1100"/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Uses code coverage to make flaky-test detection more informed.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Improves CI reliability and confidence in pipeline results.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Directly supports Drift’s planned flaky failure category and auto-quarantine feature.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92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</a:t>
                      </a: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Requires code-coverage collection, which can add execution overhead.</a:t>
                      </a:r>
                      <a:endParaRPr lang="en-US" sz="1100"/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Some flaky tests may remain undetected if coverage information is incomplete.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The tool detects flakiness but does not automatically repair the flaky test.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2D388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- It focuses on tests rather than infrastructure, dependency, or deployment instability.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  <a:p>
                      <a:pPr algn="l">
                        <a:lnSpc>
                          <a:spcPts val="21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95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030027" y="146368"/>
            <a:ext cx="6120952" cy="69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DOI/URL: 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2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doi.org/10.1145/3180155.3180164"/>
              </a:rPr>
              <a:t>https://doi.org/</a:t>
            </a:r>
            <a:r>
              <a:rPr lang="en-US" sz="22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5" tooltip="https://doi.org/10.1145/3180155.3180164"/>
              </a:rPr>
              <a:t>10.1145/3180155.3180164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54864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11480"/>
            <a:chOff x="0" y="0"/>
            <a:chExt cx="237744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11480"/>
            <a:chOff x="0" y="0"/>
            <a:chExt cx="17373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73736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MOTIVATION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28700"/>
            <a:ext cx="14676120" cy="993267"/>
            <a:chOff x="0" y="0"/>
            <a:chExt cx="19568160" cy="13243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324356"/>
            </a:xfrm>
            <a:custGeom>
              <a:avLst/>
              <a:gdLst/>
              <a:ahLst/>
              <a:cxnLst/>
              <a:rect r="r" b="b" t="t" l="l"/>
              <a:pathLst>
                <a:path h="1324356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324356"/>
                  </a:lnTo>
                  <a:lnTo>
                    <a:pt x="0" y="13243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571" r="0" b="-23623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13338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Problem Statement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459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 / 11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2960" y="2434590"/>
            <a:ext cx="9149589" cy="458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CI/CD pipelines are black boxes — failures stay buried in  scrolling logs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visual context is given for pipeline stages, dependencies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tools are text-heavy and reactive, or visualize structure without explaining root cause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Developers cannot tell a flaky failure from a real regression without manual, repeated investigation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041380" y="2606040"/>
            <a:ext cx="6377940" cy="5760720"/>
            <a:chOff x="0" y="0"/>
            <a:chExt cx="8503920" cy="7680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0" cy="7680961"/>
            </a:xfrm>
            <a:custGeom>
              <a:avLst/>
              <a:gdLst/>
              <a:ahLst/>
              <a:cxnLst/>
              <a:rect r="r" b="b" t="t" l="l"/>
              <a:pathLst>
                <a:path h="7680961" w="8503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284464" y="0"/>
                  </a:lnTo>
                  <a:cubicBezTo>
                    <a:pt x="8405622" y="0"/>
                    <a:pt x="8503920" y="98298"/>
                    <a:pt x="8503920" y="219456"/>
                  </a:cubicBezTo>
                  <a:lnTo>
                    <a:pt x="8503920" y="7461504"/>
                  </a:lnTo>
                  <a:cubicBezTo>
                    <a:pt x="8503920" y="7582662"/>
                    <a:pt x="8405622" y="7680961"/>
                    <a:pt x="8284464" y="7680961"/>
                  </a:cubicBezTo>
                  <a:lnTo>
                    <a:pt x="219456" y="7680961"/>
                  </a:lnTo>
                  <a:cubicBezTo>
                    <a:pt x="98298" y="7680960"/>
                    <a:pt x="0" y="7582662"/>
                    <a:pt x="0" y="7461504"/>
                  </a:cubicBezTo>
                  <a:close/>
                </a:path>
              </a:pathLst>
            </a:custGeom>
            <a:solidFill>
              <a:srgbClr val="1623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41380" y="3291840"/>
            <a:ext cx="6377940" cy="1782203"/>
            <a:chOff x="0" y="0"/>
            <a:chExt cx="8503920" cy="23762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03920" cy="2376271"/>
            </a:xfrm>
            <a:custGeom>
              <a:avLst/>
              <a:gdLst/>
              <a:ahLst/>
              <a:cxnLst/>
              <a:rect r="r" b="b" t="t" l="l"/>
              <a:pathLst>
                <a:path h="2376271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376271"/>
                  </a:lnTo>
                  <a:lnTo>
                    <a:pt x="0" y="2376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4" r="0" b="-159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503920" cy="2385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20%+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27180" y="5006340"/>
            <a:ext cx="5006340" cy="1097280"/>
            <a:chOff x="0" y="0"/>
            <a:chExt cx="667512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7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00" r="0" b="-389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6751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of developer time is lost debugging broken builds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3800">
            <a:off x="11854796" y="6304597"/>
            <a:ext cx="4751108" cy="0"/>
          </a:xfrm>
          <a:prstGeom prst="line">
            <a:avLst/>
          </a:prstGeom>
          <a:ln cap="rnd" w="9525">
            <a:solidFill>
              <a:srgbClr val="2A3A5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1727180" y="6514159"/>
            <a:ext cx="5006340" cy="1508760"/>
            <a:chOff x="0" y="0"/>
            <a:chExt cx="667512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75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4" r="0" b="-146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67512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9FB3D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 visual, intelligent layer between raw pipeline logs and the developer is the missing piece.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57846"/>
            <a:chOff x="0" y="0"/>
            <a:chExt cx="548640" cy="610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10462"/>
            </a:xfrm>
            <a:custGeom>
              <a:avLst/>
              <a:gdLst/>
              <a:ahLst/>
              <a:cxnLst/>
              <a:rect r="r" b="b" t="t" l="l"/>
              <a:pathLst>
                <a:path h="61046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01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864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28473"/>
            <a:chOff x="0" y="0"/>
            <a:chExt cx="2377440" cy="571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71297"/>
            </a:xfrm>
            <a:custGeom>
              <a:avLst/>
              <a:gdLst/>
              <a:ahLst/>
              <a:cxnLst/>
              <a:rect r="r" b="b" t="t" l="l"/>
              <a:pathLst>
                <a:path h="571297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71297"/>
                  </a:lnTo>
                  <a:lnTo>
                    <a:pt x="0" y="571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69" r="0" b="-291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71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949" spc="35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57846"/>
            <a:chOff x="0" y="0"/>
            <a:chExt cx="17373600" cy="6104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10462"/>
            </a:xfrm>
            <a:custGeom>
              <a:avLst/>
              <a:gdLst/>
              <a:ahLst/>
              <a:cxnLst/>
              <a:rect r="r" b="b" t="t" l="l"/>
              <a:pathLst>
                <a:path h="61046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03" r="0" b="-4994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7360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349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GOALS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51864"/>
            <a:chOff x="0" y="0"/>
            <a:chExt cx="19568160" cy="14024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02486"/>
            </a:xfrm>
            <a:custGeom>
              <a:avLst/>
              <a:gdLst/>
              <a:ahLst/>
              <a:cxnLst/>
              <a:rect r="r" b="b" t="t" l="l"/>
              <a:pathLst>
                <a:path h="1402486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25" r="0" b="-217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956816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Objectives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459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 / 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619756"/>
            <a:ext cx="603504" cy="603504"/>
            <a:chOff x="0" y="0"/>
            <a:chExt cx="804672" cy="80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619756"/>
            <a:ext cx="603504" cy="603504"/>
            <a:chOff x="0" y="0"/>
            <a:chExt cx="804672" cy="80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73352" y="2537460"/>
            <a:ext cx="6995160" cy="511320"/>
            <a:chOff x="0" y="0"/>
            <a:chExt cx="9326880" cy="681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Interactive Canvas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73352" y="3031236"/>
            <a:ext cx="6995160" cy="1165860"/>
            <a:chOff x="0" y="0"/>
            <a:chExt cx="932688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Design a real-time visual canvas covering all 6 pipeline stages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52560" y="2619756"/>
            <a:ext cx="603504" cy="603504"/>
            <a:chOff x="0" y="0"/>
            <a:chExt cx="804672" cy="8046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52560" y="2619756"/>
            <a:ext cx="603504" cy="603504"/>
            <a:chOff x="0" y="0"/>
            <a:chExt cx="804672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02952" y="2537460"/>
            <a:ext cx="6995160" cy="511320"/>
            <a:chOff x="0" y="0"/>
            <a:chExt cx="9326880" cy="681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Context-Aware Inspector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02952" y="3031236"/>
            <a:ext cx="6995160" cy="1165860"/>
            <a:chOff x="0" y="0"/>
            <a:chExt cx="9326880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Surface logs, diffs, artifacts &amp; metadata per stage on hover/click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4622292"/>
            <a:ext cx="603504" cy="603504"/>
            <a:chOff x="0" y="0"/>
            <a:chExt cx="804672" cy="8046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4622292"/>
            <a:ext cx="603504" cy="603504"/>
            <a:chOff x="0" y="0"/>
            <a:chExt cx="804672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73352" y="4539996"/>
            <a:ext cx="6995160" cy="511320"/>
            <a:chOff x="0" y="0"/>
            <a:chExt cx="9326880" cy="681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Replay Engine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73352" y="5033772"/>
            <a:ext cx="6995160" cy="1165860"/>
            <a:chOff x="0" y="0"/>
            <a:chExt cx="9326880" cy="1554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Re-run a failed stage with modified inputs without a full restart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52560" y="4622292"/>
            <a:ext cx="603504" cy="603504"/>
            <a:chOff x="0" y="0"/>
            <a:chExt cx="804672" cy="8046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052560" y="4622292"/>
            <a:ext cx="603504" cy="603504"/>
            <a:chOff x="0" y="0"/>
            <a:chExt cx="804672" cy="8046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02952" y="4539996"/>
            <a:ext cx="6995160" cy="511320"/>
            <a:chOff x="0" y="0"/>
            <a:chExt cx="9326880" cy="681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Smart Classification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902952" y="5033772"/>
            <a:ext cx="6995160" cy="1165860"/>
            <a:chOff x="0" y="0"/>
            <a:chExt cx="9326880" cy="15544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Auto-categorize failures as flaky, env, code, config, or infra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" y="6624828"/>
            <a:ext cx="603504" cy="603504"/>
            <a:chOff x="0" y="0"/>
            <a:chExt cx="804672" cy="8046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6624828"/>
            <a:ext cx="603504" cy="603504"/>
            <a:chOff x="0" y="0"/>
            <a:chExt cx="804672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73352" y="6542532"/>
            <a:ext cx="6995160" cy="511320"/>
            <a:chOff x="0" y="0"/>
            <a:chExt cx="9326880" cy="6817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Real-Time State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73352" y="7036308"/>
            <a:ext cx="6995160" cy="1165860"/>
            <a:chOff x="0" y="0"/>
            <a:chExt cx="9326880" cy="1554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Stream live pipeline status to the client over WebSockets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052560" y="6624828"/>
            <a:ext cx="603504" cy="603504"/>
            <a:chOff x="0" y="0"/>
            <a:chExt cx="804672" cy="8046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052560" y="6624828"/>
            <a:ext cx="603504" cy="603504"/>
            <a:chOff x="0" y="0"/>
            <a:chExt cx="804672" cy="8046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902952" y="6542532"/>
            <a:ext cx="6995160" cy="511320"/>
            <a:chOff x="0" y="0"/>
            <a:chExt cx="9326880" cy="681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26880" cy="681760"/>
            </a:xfrm>
            <a:custGeom>
              <a:avLst/>
              <a:gdLst/>
              <a:ahLst/>
              <a:cxnLst/>
              <a:rect r="r" b="b" t="t" l="l"/>
              <a:pathLst>
                <a:path h="6817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81760"/>
                  </a:lnTo>
                  <a:lnTo>
                    <a:pt x="0" y="68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4" r="0" b="-21216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326880" cy="68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Secure Multi-Tenancy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902952" y="7036308"/>
            <a:ext cx="6995160" cy="1165860"/>
            <a:chOff x="0" y="0"/>
            <a:chExt cx="932688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93268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Provide role-based, org-scoped access for teams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57846"/>
            <a:chOff x="0" y="0"/>
            <a:chExt cx="548640" cy="610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10462"/>
            </a:xfrm>
            <a:custGeom>
              <a:avLst/>
              <a:gdLst/>
              <a:ahLst/>
              <a:cxnLst/>
              <a:rect r="r" b="b" t="t" l="l"/>
              <a:pathLst>
                <a:path h="61046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01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864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28473"/>
            <a:chOff x="0" y="0"/>
            <a:chExt cx="2377440" cy="571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71297"/>
            </a:xfrm>
            <a:custGeom>
              <a:avLst/>
              <a:gdLst/>
              <a:ahLst/>
              <a:cxnLst/>
              <a:rect r="r" b="b" t="t" l="l"/>
              <a:pathLst>
                <a:path h="571297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71297"/>
                  </a:lnTo>
                  <a:lnTo>
                    <a:pt x="0" y="571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69" r="0" b="-291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71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949" spc="35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57846"/>
            <a:chOff x="0" y="0"/>
            <a:chExt cx="17373600" cy="6104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10462"/>
            </a:xfrm>
            <a:custGeom>
              <a:avLst/>
              <a:gdLst/>
              <a:ahLst/>
              <a:cxnLst/>
              <a:rect r="r" b="b" t="t" l="l"/>
              <a:pathLst>
                <a:path h="61046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03" r="0" b="-4994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7360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349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ARCHITECTURE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51864"/>
            <a:chOff x="0" y="0"/>
            <a:chExt cx="19568160" cy="14024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02486"/>
            </a:xfrm>
            <a:custGeom>
              <a:avLst/>
              <a:gdLst/>
              <a:ahLst/>
              <a:cxnLst/>
              <a:rect r="r" b="b" t="t" l="l"/>
              <a:pathLst>
                <a:path h="1402486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25" r="0" b="-217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956816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System Diagram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459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05 / 11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78086" y="2029175"/>
            <a:ext cx="15685102" cy="8093233"/>
          </a:xfrm>
          <a:custGeom>
            <a:avLst/>
            <a:gdLst/>
            <a:ahLst/>
            <a:cxnLst/>
            <a:rect r="r" b="b" t="t" l="l"/>
            <a:pathLst>
              <a:path h="8093233" w="15685102">
                <a:moveTo>
                  <a:pt x="0" y="0"/>
                </a:moveTo>
                <a:lnTo>
                  <a:pt x="15685102" y="0"/>
                </a:lnTo>
                <a:lnTo>
                  <a:pt x="15685102" y="8093233"/>
                </a:lnTo>
                <a:lnTo>
                  <a:pt x="0" y="809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34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57846"/>
            <a:chOff x="0" y="0"/>
            <a:chExt cx="548640" cy="610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10462"/>
            </a:xfrm>
            <a:custGeom>
              <a:avLst/>
              <a:gdLst/>
              <a:ahLst/>
              <a:cxnLst/>
              <a:rect r="r" b="b" t="t" l="l"/>
              <a:pathLst>
                <a:path h="61046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01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864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28473"/>
            <a:chOff x="0" y="0"/>
            <a:chExt cx="2377440" cy="571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71297"/>
            </a:xfrm>
            <a:custGeom>
              <a:avLst/>
              <a:gdLst/>
              <a:ahLst/>
              <a:cxnLst/>
              <a:rect r="r" b="b" t="t" l="l"/>
              <a:pathLst>
                <a:path h="571297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71297"/>
                  </a:lnTo>
                  <a:lnTo>
                    <a:pt x="0" y="571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69" r="0" b="-291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71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949" spc="35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5616" y="319717"/>
            <a:ext cx="13030200" cy="457846"/>
            <a:chOff x="0" y="0"/>
            <a:chExt cx="17373600" cy="6104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10462"/>
            </a:xfrm>
            <a:custGeom>
              <a:avLst/>
              <a:gdLst/>
              <a:ahLst/>
              <a:cxnLst/>
              <a:rect r="r" b="b" t="t" l="l"/>
              <a:pathLst>
                <a:path h="61046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10462"/>
                  </a:lnTo>
                  <a:lnTo>
                    <a:pt x="0" y="610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03" r="0" b="-4994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73600" cy="61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349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APPROACH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5616" y="640498"/>
            <a:ext cx="14676120" cy="1051864"/>
            <a:chOff x="0" y="0"/>
            <a:chExt cx="19568160" cy="14024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02486"/>
            </a:xfrm>
            <a:custGeom>
              <a:avLst/>
              <a:gdLst/>
              <a:ahLst/>
              <a:cxnLst/>
              <a:rect r="r" b="b" t="t" l="l"/>
              <a:pathLst>
                <a:path h="1402486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25" r="0" b="-217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956816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Methodology &amp; Process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459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06 / 11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937272" y="1692362"/>
            <a:ext cx="11254360" cy="8594638"/>
          </a:xfrm>
          <a:custGeom>
            <a:avLst/>
            <a:gdLst/>
            <a:ahLst/>
            <a:cxnLst/>
            <a:rect r="r" b="b" t="t" l="l"/>
            <a:pathLst>
              <a:path h="8594638" w="11254360">
                <a:moveTo>
                  <a:pt x="0" y="0"/>
                </a:moveTo>
                <a:lnTo>
                  <a:pt x="11254360" y="0"/>
                </a:lnTo>
                <a:lnTo>
                  <a:pt x="11254360" y="8594638"/>
                </a:lnTo>
                <a:lnTo>
                  <a:pt x="0" y="8594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500049"/>
            <a:chOff x="0" y="0"/>
            <a:chExt cx="548640" cy="6667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66732"/>
            </a:xfrm>
            <a:custGeom>
              <a:avLst/>
              <a:gdLst/>
              <a:ahLst/>
              <a:cxnLst/>
              <a:rect r="r" b="b" t="t" l="l"/>
              <a:pathLst>
                <a:path h="66673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66732"/>
                  </a:lnTo>
                  <a:lnTo>
                    <a:pt x="0" y="666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771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8640" cy="666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70825"/>
            <a:chOff x="0" y="0"/>
            <a:chExt cx="2377440" cy="627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627766"/>
            </a:xfrm>
            <a:custGeom>
              <a:avLst/>
              <a:gdLst/>
              <a:ahLst/>
              <a:cxnLst/>
              <a:rect r="r" b="b" t="t" l="l"/>
              <a:pathLst>
                <a:path h="62776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7766"/>
                  </a:lnTo>
                  <a:lnTo>
                    <a:pt x="0" y="6277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94" r="0" b="-174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627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spc="390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500049"/>
            <a:chOff x="0" y="0"/>
            <a:chExt cx="17373600" cy="6667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66732"/>
            </a:xfrm>
            <a:custGeom>
              <a:avLst/>
              <a:gdLst/>
              <a:ahLst/>
              <a:cxnLst/>
              <a:rect r="r" b="b" t="t" l="l"/>
              <a:pathLst>
                <a:path h="66673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66732"/>
                  </a:lnTo>
                  <a:lnTo>
                    <a:pt x="0" y="666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594" r="0" b="-4488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373600" cy="666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spc="383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IMPLEMENTATION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94067"/>
            <a:chOff x="0" y="0"/>
            <a:chExt cx="19568160" cy="14587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58756"/>
            </a:xfrm>
            <a:custGeom>
              <a:avLst/>
              <a:gdLst/>
              <a:ahLst/>
              <a:cxnLst/>
              <a:rect r="r" b="b" t="t" l="l"/>
              <a:pathLst>
                <a:path h="1458756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58756"/>
                  </a:lnTo>
                  <a:lnTo>
                    <a:pt x="0" y="14587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499" r="0" b="-2052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9568160" cy="14587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Technology Stack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31889"/>
            <a:chOff x="0" y="0"/>
            <a:chExt cx="1645920" cy="575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75852"/>
            </a:xfrm>
            <a:custGeom>
              <a:avLst/>
              <a:gdLst/>
              <a:ahLst/>
              <a:cxnLst/>
              <a:rect r="r" b="b" t="t" l="l"/>
              <a:pathLst>
                <a:path h="575852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75852"/>
                  </a:lnTo>
                  <a:lnTo>
                    <a:pt x="0" y="575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55" r="0" b="-33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45920" cy="575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07 / 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83080" y="2468880"/>
            <a:ext cx="2468880" cy="538836"/>
            <a:chOff x="0" y="0"/>
            <a:chExt cx="3291840" cy="7184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Framework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83080" y="2921508"/>
            <a:ext cx="6652260" cy="548640"/>
            <a:chOff x="0" y="0"/>
            <a:chExt cx="88696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Next.js 14 (App Router, Server Components)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3607308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3607308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83080" y="3538728"/>
            <a:ext cx="2468880" cy="538836"/>
            <a:chOff x="0" y="0"/>
            <a:chExt cx="3291840" cy="7184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Database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83080" y="3991356"/>
            <a:ext cx="6652260" cy="548640"/>
            <a:chOff x="0" y="0"/>
            <a:chExt cx="88696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PostgreSQL + Prisma ORM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4677156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4677156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AU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83080" y="4608576"/>
            <a:ext cx="2468880" cy="538836"/>
            <a:chOff x="0" y="0"/>
            <a:chExt cx="3291840" cy="7184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Auth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83080" y="5061204"/>
            <a:ext cx="6652260" cy="548640"/>
            <a:chOff x="0" y="0"/>
            <a:chExt cx="88696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NextAuth.js (credentials + OAuth ready)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747004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5747004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83080" y="5678424"/>
            <a:ext cx="2468880" cy="538836"/>
            <a:chOff x="0" y="0"/>
            <a:chExt cx="3291840" cy="71844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83080" y="6131052"/>
            <a:ext cx="6652260" cy="548640"/>
            <a:chOff x="0" y="0"/>
            <a:chExt cx="88696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Radix UI + Tailwind CSS 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" y="6816852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6816852"/>
            <a:ext cx="685800" cy="685800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83080" y="6748272"/>
            <a:ext cx="2468880" cy="538836"/>
            <a:chOff x="0" y="0"/>
            <a:chExt cx="3291840" cy="71844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Testing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83080" y="7200900"/>
            <a:ext cx="6652260" cy="548640"/>
            <a:chOff x="0" y="0"/>
            <a:chExt cx="88696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Vitest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64040" y="253746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64040" y="2537460"/>
            <a:ext cx="685800" cy="685800"/>
            <a:chOff x="0" y="0"/>
            <a:chExt cx="914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424160" y="2468880"/>
            <a:ext cx="2468880" cy="538836"/>
            <a:chOff x="0" y="0"/>
            <a:chExt cx="3291840" cy="71844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Animation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424160" y="2921508"/>
            <a:ext cx="6652260" cy="548640"/>
            <a:chOff x="0" y="0"/>
            <a:chExt cx="886968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Framer Motion + GSAP + Lenis smooth scroll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64040" y="3607308"/>
            <a:ext cx="685800" cy="685800"/>
            <a:chOff x="0" y="0"/>
            <a:chExt cx="91440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464040" y="3607308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424160" y="3538728"/>
            <a:ext cx="2468880" cy="538836"/>
            <a:chOff x="0" y="0"/>
            <a:chExt cx="3291840" cy="71844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424160" y="3991356"/>
            <a:ext cx="6652260" cy="548640"/>
            <a:chOff x="0" y="0"/>
            <a:chExt cx="886968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React Three Fiber + Drei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464040" y="4677156"/>
            <a:ext cx="685800" cy="685800"/>
            <a:chOff x="0" y="0"/>
            <a:chExt cx="914400" cy="914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64040" y="4677156"/>
            <a:ext cx="685800" cy="685800"/>
            <a:chOff x="0" y="0"/>
            <a:chExt cx="914400" cy="914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24160" y="4608576"/>
            <a:ext cx="2468880" cy="538836"/>
            <a:chOff x="0" y="0"/>
            <a:chExt cx="3291840" cy="71844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State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424160" y="5061204"/>
            <a:ext cx="7547777" cy="818774"/>
            <a:chOff x="0" y="0"/>
            <a:chExt cx="10063703" cy="109169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063703" cy="1091699"/>
            </a:xfrm>
            <a:custGeom>
              <a:avLst/>
              <a:gdLst/>
              <a:ahLst/>
              <a:cxnLst/>
              <a:rect r="r" b="b" t="t" l="l"/>
              <a:pathLst>
                <a:path h="1091699" w="10063703">
                  <a:moveTo>
                    <a:pt x="0" y="0"/>
                  </a:moveTo>
                  <a:lnTo>
                    <a:pt x="10063703" y="0"/>
                  </a:lnTo>
                  <a:lnTo>
                    <a:pt x="10063703" y="1091699"/>
                  </a:lnTo>
                  <a:lnTo>
                    <a:pt x="0" y="1091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805" r="11864" b="-9181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10063703" cy="1091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Zustand (client) + Server Actions application state handling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64040" y="5747004"/>
            <a:ext cx="685800" cy="685800"/>
            <a:chOff x="0" y="0"/>
            <a:chExt cx="914400" cy="914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464040" y="5747004"/>
            <a:ext cx="685800" cy="685800"/>
            <a:chOff x="0" y="0"/>
            <a:chExt cx="914400" cy="9144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424160" y="5678424"/>
            <a:ext cx="2468880" cy="538836"/>
            <a:chOff x="0" y="0"/>
            <a:chExt cx="3291840" cy="71844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Charts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424160" y="6131052"/>
            <a:ext cx="6652260" cy="548640"/>
            <a:chOff x="0" y="0"/>
            <a:chExt cx="8869680" cy="731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Recharts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464040" y="6816852"/>
            <a:ext cx="685800" cy="685800"/>
            <a:chOff x="0" y="0"/>
            <a:chExt cx="914400" cy="9144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464040" y="6816852"/>
            <a:ext cx="685800" cy="685800"/>
            <a:chOff x="0" y="0"/>
            <a:chExt cx="914400" cy="914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FM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424160" y="6748272"/>
            <a:ext cx="2468880" cy="538836"/>
            <a:chOff x="0" y="0"/>
            <a:chExt cx="3291840" cy="718447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291840" cy="718447"/>
            </a:xfrm>
            <a:custGeom>
              <a:avLst/>
              <a:gdLst/>
              <a:ahLst/>
              <a:cxnLst/>
              <a:rect r="r" b="b" t="t" l="l"/>
              <a:pathLst>
                <a:path h="718447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8447"/>
                  </a:lnTo>
                  <a:lnTo>
                    <a:pt x="0" y="718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2" r="0" b="-3382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3291840" cy="718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Forms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424160" y="7200900"/>
            <a:ext cx="6652260" cy="548640"/>
            <a:chOff x="0" y="0"/>
            <a:chExt cx="8869680" cy="7315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88696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React Hook Form + Zod</a:t>
              </a:r>
            </a:p>
          </p:txBody>
        </p:sp>
      </p:grpSp>
      <p:sp>
        <p:nvSpPr>
          <p:cNvPr name="AutoShape 129" id="129"/>
          <p:cNvSpPr/>
          <p:nvPr/>
        </p:nvSpPr>
        <p:spPr>
          <a:xfrm rot="5388120">
            <a:off x="6231236" y="5275897"/>
            <a:ext cx="5505479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83654"/>
            <a:chOff x="0" y="0"/>
            <a:chExt cx="548640" cy="644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44872"/>
            </a:xfrm>
            <a:custGeom>
              <a:avLst/>
              <a:gdLst/>
              <a:ahLst/>
              <a:cxnLst/>
              <a:rect r="r" b="b" t="t" l="l"/>
              <a:pathLst>
                <a:path h="64487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44872"/>
                  </a:lnTo>
                  <a:lnTo>
                    <a:pt x="0" y="644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49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8640" cy="654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44868"/>
            <a:chOff x="0" y="0"/>
            <a:chExt cx="2377440" cy="593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93157"/>
            </a:xfrm>
            <a:custGeom>
              <a:avLst/>
              <a:gdLst/>
              <a:ahLst/>
              <a:cxnLst/>
              <a:rect r="r" b="b" t="t" l="l"/>
              <a:pathLst>
                <a:path h="593157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93157"/>
                  </a:lnTo>
                  <a:lnTo>
                    <a:pt x="0" y="593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50" r="0" b="-243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93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spc="372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83654"/>
            <a:chOff x="0" y="0"/>
            <a:chExt cx="17373600" cy="6448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4872"/>
            </a:xfrm>
            <a:custGeom>
              <a:avLst/>
              <a:gdLst/>
              <a:ahLst/>
              <a:cxnLst/>
              <a:rect r="r" b="b" t="t" l="l"/>
              <a:pathLst>
                <a:path h="64487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4872"/>
                  </a:lnTo>
                  <a:lnTo>
                    <a:pt x="0" y="644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410" r="0" b="-4674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73600" cy="654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STATUS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77821"/>
            <a:chOff x="0" y="0"/>
            <a:chExt cx="19568160" cy="14370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37095"/>
            </a:xfrm>
            <a:custGeom>
              <a:avLst/>
              <a:gdLst/>
              <a:ahLst/>
              <a:cxnLst/>
              <a:rect r="r" b="b" t="t" l="l"/>
              <a:pathLst>
                <a:path h="1437095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37095"/>
                  </a:lnTo>
                  <a:lnTo>
                    <a:pt x="0" y="1437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77" r="0" b="-2098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9568160" cy="1427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50% Implementation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5643"/>
            <a:chOff x="0" y="0"/>
            <a:chExt cx="1645920" cy="5541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54191"/>
            </a:xfrm>
            <a:custGeom>
              <a:avLst/>
              <a:gdLst/>
              <a:ahLst/>
              <a:cxnLst/>
              <a:rect r="r" b="b" t="t" l="l"/>
              <a:pathLst>
                <a:path h="554191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54191"/>
                  </a:lnTo>
                  <a:lnTo>
                    <a:pt x="0" y="5541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0" r="0" b="-73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45920" cy="544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08 / 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359152"/>
            <a:ext cx="16596360" cy="466344"/>
            <a:chOff x="0" y="0"/>
            <a:chExt cx="22128480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621792"/>
            </a:xfrm>
            <a:custGeom>
              <a:avLst/>
              <a:gdLst/>
              <a:ahLst/>
              <a:cxnLst/>
              <a:rect r="r" b="b" t="t" l="l"/>
              <a:pathLst>
                <a:path h="621792" w="2212848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1817585" y="0"/>
                  </a:lnTo>
                  <a:cubicBezTo>
                    <a:pt x="21989289" y="0"/>
                    <a:pt x="22128480" y="139192"/>
                    <a:pt x="22128480" y="310896"/>
                  </a:cubicBezTo>
                  <a:cubicBezTo>
                    <a:pt x="22128480" y="482600"/>
                    <a:pt x="21989289" y="621792"/>
                    <a:pt x="21817585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359152"/>
            <a:ext cx="8298180" cy="466344"/>
            <a:chOff x="0" y="0"/>
            <a:chExt cx="11064240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4239" cy="621792"/>
            </a:xfrm>
            <a:custGeom>
              <a:avLst/>
              <a:gdLst/>
              <a:ahLst/>
              <a:cxnLst/>
              <a:rect r="r" b="b" t="t" l="l"/>
              <a:pathLst>
                <a:path h="621792" w="11064239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753344" y="0"/>
                  </a:lnTo>
                  <a:cubicBezTo>
                    <a:pt x="10925048" y="0"/>
                    <a:pt x="11064239" y="139192"/>
                    <a:pt x="11064239" y="310896"/>
                  </a:cubicBezTo>
                  <a:cubicBezTo>
                    <a:pt x="11064239" y="482600"/>
                    <a:pt x="10925048" y="621792"/>
                    <a:pt x="1075334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2907792"/>
            <a:ext cx="4114800" cy="444868"/>
            <a:chOff x="0" y="0"/>
            <a:chExt cx="5486400" cy="593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593157"/>
            </a:xfrm>
            <a:custGeom>
              <a:avLst/>
              <a:gdLst/>
              <a:ahLst/>
              <a:cxnLst/>
              <a:rect r="r" b="b" t="t" l="l"/>
              <a:pathLst>
                <a:path h="59315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93157"/>
                  </a:lnTo>
                  <a:lnTo>
                    <a:pt x="0" y="593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62" r="0" b="-1233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486400" cy="593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spc="186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50% COMPLETE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3429000"/>
            <a:ext cx="5486400" cy="483654"/>
            <a:chOff x="0" y="0"/>
            <a:chExt cx="7315200" cy="6448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644872"/>
            </a:xfrm>
            <a:custGeom>
              <a:avLst/>
              <a:gdLst/>
              <a:ahLst/>
              <a:cxnLst/>
              <a:rect r="r" b="b" t="t" l="l"/>
              <a:pathLst>
                <a:path h="6448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4872"/>
                  </a:lnTo>
                  <a:lnTo>
                    <a:pt x="0" y="644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92" r="0" b="-1635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315200" cy="654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COMPLETED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2960" y="3893604"/>
            <a:ext cx="9601200" cy="323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Full auth flow (register, login, session, protected routes)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Prisma schema + migrations + seed data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 canvas with 6 stages + side inspector panel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 controls (trigger, pause, retry, cancel)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3D hero scene with particle system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Theme provider (light/dark/system) + responsive shell</a:t>
            </a:r>
          </a:p>
          <a:p>
            <a:pPr algn="just" marL="398143" indent="-199072" lvl="1">
              <a:lnSpc>
                <a:spcPts val="3695"/>
              </a:lnSpc>
              <a:buFont typeface="Arial"/>
              <a:buChar char="•"/>
            </a:pPr>
            <a:r>
              <a:rPr lang="en-US" sz="21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ESLint + Prettier + Husky + lint-staged CI pipeline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904220" y="3429000"/>
            <a:ext cx="6515100" cy="5829300"/>
            <a:chOff x="0" y="0"/>
            <a:chExt cx="8686800" cy="777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868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8686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467344" y="0"/>
                  </a:lnTo>
                  <a:cubicBezTo>
                    <a:pt x="8588502" y="0"/>
                    <a:pt x="8686800" y="98298"/>
                    <a:pt x="8686800" y="219456"/>
                  </a:cubicBezTo>
                  <a:lnTo>
                    <a:pt x="8686800" y="7552944"/>
                  </a:lnTo>
                  <a:cubicBezTo>
                    <a:pt x="8686800" y="7674228"/>
                    <a:pt x="8588502" y="7772400"/>
                    <a:pt x="8467344" y="7772400"/>
                  </a:cubicBezTo>
                  <a:lnTo>
                    <a:pt x="219456" y="7772400"/>
                  </a:lnTo>
                  <a:cubicBezTo>
                    <a:pt x="98298" y="7772400"/>
                    <a:pt x="0" y="7674102"/>
                    <a:pt x="0" y="7552944"/>
                  </a:cubicBezTo>
                  <a:close/>
                </a:path>
              </a:pathLst>
            </a:custGeom>
            <a:solidFill>
              <a:srgbClr val="1623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384280" y="390906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384280" y="3909060"/>
            <a:ext cx="685800" cy="746732"/>
            <a:chOff x="0" y="0"/>
            <a:chExt cx="914400" cy="9956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95643"/>
            </a:xfrm>
            <a:custGeom>
              <a:avLst/>
              <a:gdLst/>
              <a:ahLst/>
              <a:cxnLst/>
              <a:rect r="r" b="b" t="t" l="l"/>
              <a:pathLst>
                <a:path h="995643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95643"/>
                  </a:lnTo>
                  <a:lnTo>
                    <a:pt x="0" y="9956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81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14400" cy="995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!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75820" y="3909060"/>
            <a:ext cx="4732020" cy="685800"/>
            <a:chOff x="0" y="0"/>
            <a:chExt cx="630936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3093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Remaining 50%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384280" y="4831080"/>
            <a:ext cx="5554980" cy="407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570" indent="-192285" lvl="1">
              <a:lnSpc>
                <a:spcPts val="2932"/>
              </a:lnSpc>
              <a:buFont typeface="Arial"/>
              <a:buChar char="•"/>
            </a:pPr>
            <a:r>
              <a:rPr lang="en-US" sz="2124">
                <a:solidFill>
                  <a:srgbClr val="C7D3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 CI ingestion (GitHub/GitLab webhooks) — pipeline data is currently seeded</a:t>
            </a:r>
          </a:p>
          <a:p>
            <a:pPr algn="l" marL="384570" indent="-192285" lvl="1">
              <a:lnSpc>
                <a:spcPts val="2932"/>
              </a:lnSpc>
              <a:buFont typeface="Arial"/>
              <a:buChar char="•"/>
            </a:pPr>
            <a:r>
              <a:rPr lang="en-US" sz="2124">
                <a:solidFill>
                  <a:srgbClr val="C7D3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Artifact storage (S3/R2) with signed URLs</a:t>
            </a:r>
          </a:p>
          <a:p>
            <a:pPr algn="l" marL="384570" indent="-192285" lvl="1">
              <a:lnSpc>
                <a:spcPts val="2932"/>
              </a:lnSpc>
              <a:buFont typeface="Arial"/>
              <a:buChar char="•"/>
            </a:pPr>
            <a:r>
              <a:rPr lang="en-US" sz="2124">
                <a:solidFill>
                  <a:srgbClr val="C7D3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Real-time stage updates over WebSocket</a:t>
            </a:r>
          </a:p>
          <a:p>
            <a:pPr algn="l" marL="384570" indent="-192285" lvl="1">
              <a:lnSpc>
                <a:spcPts val="2932"/>
              </a:lnSpc>
              <a:buFont typeface="Arial"/>
              <a:buChar char="•"/>
            </a:pPr>
            <a:r>
              <a:rPr lang="en-US" sz="2124">
                <a:solidFill>
                  <a:srgbClr val="C7D3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Rule-based, then ML-based, failure classification</a:t>
            </a:r>
          </a:p>
          <a:p>
            <a:pPr algn="l" marL="384570" indent="-192285" lvl="1">
              <a:lnSpc>
                <a:spcPts val="2932"/>
              </a:lnSpc>
              <a:buFont typeface="Arial"/>
              <a:buChar char="•"/>
            </a:pPr>
            <a:r>
              <a:rPr lang="en-US" sz="2124">
                <a:solidFill>
                  <a:srgbClr val="C7D3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coverage beyond current unit baseline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83654"/>
            <a:chOff x="0" y="0"/>
            <a:chExt cx="548640" cy="644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44872"/>
            </a:xfrm>
            <a:custGeom>
              <a:avLst/>
              <a:gdLst/>
              <a:ahLst/>
              <a:cxnLst/>
              <a:rect r="r" b="b" t="t" l="l"/>
              <a:pathLst>
                <a:path h="64487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44872"/>
                  </a:lnTo>
                  <a:lnTo>
                    <a:pt x="0" y="644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49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8640" cy="654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44868"/>
            <a:chOff x="0" y="0"/>
            <a:chExt cx="2377440" cy="593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93157"/>
            </a:xfrm>
            <a:custGeom>
              <a:avLst/>
              <a:gdLst/>
              <a:ahLst/>
              <a:cxnLst/>
              <a:rect r="r" b="b" t="t" l="l"/>
              <a:pathLst>
                <a:path h="593157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93157"/>
                  </a:lnTo>
                  <a:lnTo>
                    <a:pt x="0" y="593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50" r="0" b="-243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77440" cy="593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spc="372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83654"/>
            <a:chOff x="0" y="0"/>
            <a:chExt cx="17373600" cy="6448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4872"/>
            </a:xfrm>
            <a:custGeom>
              <a:avLst/>
              <a:gdLst/>
              <a:ahLst/>
              <a:cxnLst/>
              <a:rect r="r" b="b" t="t" l="l"/>
              <a:pathLst>
                <a:path h="644872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4872"/>
                  </a:lnTo>
                  <a:lnTo>
                    <a:pt x="0" y="644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410" r="0" b="-4674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73600" cy="654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NEXT STEPS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77821"/>
            <a:chOff x="0" y="0"/>
            <a:chExt cx="19568160" cy="14370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37095"/>
            </a:xfrm>
            <a:custGeom>
              <a:avLst/>
              <a:gdLst/>
              <a:ahLst/>
              <a:cxnLst/>
              <a:rect r="r" b="b" t="t" l="l"/>
              <a:pathLst>
                <a:path h="1437095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37095"/>
                  </a:lnTo>
                  <a:lnTo>
                    <a:pt x="0" y="1437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77" r="0" b="-2098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9568160" cy="1427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Future Scope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5643"/>
            <a:chOff x="0" y="0"/>
            <a:chExt cx="1645920" cy="5541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54191"/>
            </a:xfrm>
            <a:custGeom>
              <a:avLst/>
              <a:gdLst/>
              <a:ahLst/>
              <a:cxnLst/>
              <a:rect r="r" b="b" t="t" l="l"/>
              <a:pathLst>
                <a:path h="554191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54191"/>
                  </a:lnTo>
                  <a:lnTo>
                    <a:pt x="0" y="5541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0" r="0" b="-73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45920" cy="544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09 / 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606040"/>
            <a:ext cx="2331720" cy="987552"/>
            <a:chOff x="0" y="0"/>
            <a:chExt cx="3108960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170432"/>
                  </a:lnTo>
                  <a:cubicBezTo>
                    <a:pt x="3108960" y="1251204"/>
                    <a:pt x="3043428" y="1316736"/>
                    <a:pt x="2962656" y="1316736"/>
                  </a:cubicBezTo>
                  <a:lnTo>
                    <a:pt x="146304" y="1316736"/>
                  </a:lnTo>
                  <a:cubicBezTo>
                    <a:pt x="65532" y="1316736"/>
                    <a:pt x="0" y="1251204"/>
                    <a:pt x="0" y="1170432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606040"/>
            <a:ext cx="2331720" cy="987552"/>
            <a:chOff x="0" y="0"/>
            <a:chExt cx="3108960" cy="1316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10896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1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5196120">
            <a:off x="1747799" y="3810381"/>
            <a:ext cx="482051" cy="0"/>
          </a:xfrm>
          <a:prstGeom prst="line">
            <a:avLst/>
          </a:prstGeom>
          <a:ln cap="rnd" w="19050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3488055" y="2596515"/>
            <a:ext cx="13940790" cy="1006602"/>
            <a:chOff x="0" y="0"/>
            <a:chExt cx="18587720" cy="1342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587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8587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8438622" y="0"/>
                  </a:lnTo>
                  <a:cubicBezTo>
                    <a:pt x="18520918" y="0"/>
                    <a:pt x="18587720" y="66802"/>
                    <a:pt x="18587720" y="149098"/>
                  </a:cubicBezTo>
                  <a:lnTo>
                    <a:pt x="18587720" y="1193038"/>
                  </a:lnTo>
                  <a:cubicBezTo>
                    <a:pt x="18587720" y="1275334"/>
                    <a:pt x="18520918" y="1342136"/>
                    <a:pt x="18438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909060" y="2606040"/>
            <a:ext cx="13167360" cy="987552"/>
            <a:chOff x="0" y="0"/>
            <a:chExt cx="17556480" cy="1316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75564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GitHub Actions webhook receiver + pipeline run ingestion service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046220"/>
            <a:ext cx="2331720" cy="987552"/>
            <a:chOff x="0" y="0"/>
            <a:chExt cx="3108960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170432"/>
                  </a:lnTo>
                  <a:cubicBezTo>
                    <a:pt x="3108960" y="1251204"/>
                    <a:pt x="3043428" y="1316736"/>
                    <a:pt x="2962656" y="1316736"/>
                  </a:cubicBezTo>
                  <a:lnTo>
                    <a:pt x="146304" y="1316736"/>
                  </a:lnTo>
                  <a:cubicBezTo>
                    <a:pt x="65532" y="1316736"/>
                    <a:pt x="0" y="1251204"/>
                    <a:pt x="0" y="1170432"/>
                  </a:cubicBezTo>
                  <a:close/>
                </a:path>
              </a:pathLst>
            </a:custGeom>
            <a:solidFill>
              <a:srgbClr val="1623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046220"/>
            <a:ext cx="2331720" cy="987552"/>
            <a:chOff x="0" y="0"/>
            <a:chExt cx="310896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10896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2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5196120">
            <a:off x="1747799" y="5250561"/>
            <a:ext cx="482051" cy="0"/>
          </a:xfrm>
          <a:prstGeom prst="line">
            <a:avLst/>
          </a:prstGeom>
          <a:ln cap="rnd" w="19050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3488055" y="4036695"/>
            <a:ext cx="13940790" cy="1006602"/>
            <a:chOff x="0" y="0"/>
            <a:chExt cx="18587720" cy="13421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587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8587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8438622" y="0"/>
                  </a:lnTo>
                  <a:cubicBezTo>
                    <a:pt x="18520918" y="0"/>
                    <a:pt x="18587720" y="66802"/>
                    <a:pt x="18587720" y="149098"/>
                  </a:cubicBezTo>
                  <a:lnTo>
                    <a:pt x="18587720" y="1193038"/>
                  </a:lnTo>
                  <a:cubicBezTo>
                    <a:pt x="18587720" y="1275334"/>
                    <a:pt x="18520918" y="1342136"/>
                    <a:pt x="18438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909060" y="4046220"/>
            <a:ext cx="13167360" cy="987552"/>
            <a:chOff x="0" y="0"/>
            <a:chExt cx="17556480" cy="1316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75564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GitLab CI webhook + API polling; generic webhook with secret verification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5486400"/>
            <a:ext cx="2331720" cy="987552"/>
            <a:chOff x="0" y="0"/>
            <a:chExt cx="3108960" cy="1316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170432"/>
                  </a:lnTo>
                  <a:cubicBezTo>
                    <a:pt x="3108960" y="1251204"/>
                    <a:pt x="3043428" y="1316736"/>
                    <a:pt x="2962656" y="1316736"/>
                  </a:cubicBezTo>
                  <a:lnTo>
                    <a:pt x="146304" y="1316736"/>
                  </a:lnTo>
                  <a:cubicBezTo>
                    <a:pt x="65532" y="1316736"/>
                    <a:pt x="0" y="1251204"/>
                    <a:pt x="0" y="1170432"/>
                  </a:cubicBezTo>
                  <a:close/>
                </a:path>
              </a:pathLst>
            </a:custGeom>
            <a:solidFill>
              <a:srgbClr val="16233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5486400"/>
            <a:ext cx="2331720" cy="987552"/>
            <a:chOff x="0" y="0"/>
            <a:chExt cx="310896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10896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3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5196120">
            <a:off x="1747799" y="6690741"/>
            <a:ext cx="482051" cy="0"/>
          </a:xfrm>
          <a:prstGeom prst="line">
            <a:avLst/>
          </a:prstGeom>
          <a:ln cap="rnd" w="19050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3488055" y="5476875"/>
            <a:ext cx="13940790" cy="1006602"/>
            <a:chOff x="0" y="0"/>
            <a:chExt cx="18587720" cy="13421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587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8587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8438622" y="0"/>
                  </a:lnTo>
                  <a:cubicBezTo>
                    <a:pt x="18520918" y="0"/>
                    <a:pt x="18587720" y="66802"/>
                    <a:pt x="18587720" y="149098"/>
                  </a:cubicBezTo>
                  <a:lnTo>
                    <a:pt x="18587720" y="1193038"/>
                  </a:lnTo>
                  <a:cubicBezTo>
                    <a:pt x="18587720" y="1275334"/>
                    <a:pt x="18520918" y="1342136"/>
                    <a:pt x="18438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909060" y="5486400"/>
            <a:ext cx="13167360" cy="987552"/>
            <a:chOff x="0" y="0"/>
            <a:chExt cx="17556480" cy="13167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75564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Artifact storage (S3/R2) with signed URLs; real-time stage updates via WebSocket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6926580"/>
            <a:ext cx="2331720" cy="987552"/>
            <a:chOff x="0" y="0"/>
            <a:chExt cx="3108960" cy="1316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170432"/>
                  </a:lnTo>
                  <a:cubicBezTo>
                    <a:pt x="3108960" y="1251204"/>
                    <a:pt x="3043428" y="1316736"/>
                    <a:pt x="2962656" y="1316736"/>
                  </a:cubicBezTo>
                  <a:lnTo>
                    <a:pt x="146304" y="1316736"/>
                  </a:lnTo>
                  <a:cubicBezTo>
                    <a:pt x="65532" y="1316736"/>
                    <a:pt x="0" y="1251204"/>
                    <a:pt x="0" y="1170432"/>
                  </a:cubicBezTo>
                  <a:close/>
                </a:path>
              </a:pathLst>
            </a:custGeom>
            <a:solidFill>
              <a:srgbClr val="16233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6926580"/>
            <a:ext cx="2331720" cy="987552"/>
            <a:chOff x="0" y="0"/>
            <a:chExt cx="3108960" cy="13167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10896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488055" y="6917055"/>
            <a:ext cx="13940790" cy="1006602"/>
            <a:chOff x="0" y="0"/>
            <a:chExt cx="18587720" cy="13421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587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8587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8438622" y="0"/>
                  </a:lnTo>
                  <a:cubicBezTo>
                    <a:pt x="18520918" y="0"/>
                    <a:pt x="18587720" y="66802"/>
                    <a:pt x="18587720" y="149098"/>
                  </a:cubicBezTo>
                  <a:lnTo>
                    <a:pt x="18587720" y="1193038"/>
                  </a:lnTo>
                  <a:cubicBezTo>
                    <a:pt x="18587720" y="1275334"/>
                    <a:pt x="18520918" y="1342136"/>
                    <a:pt x="18438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3909060" y="6926580"/>
            <a:ext cx="13167360" cy="987552"/>
            <a:chOff x="0" y="0"/>
            <a:chExt cx="1755648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755648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Rule-based failure classification live; raise unit/integration test coverage to &gt;80%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8572500"/>
            <a:ext cx="16596360" cy="773917"/>
            <a:chOff x="0" y="0"/>
            <a:chExt cx="22128480" cy="10318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128480" cy="1031889"/>
            </a:xfrm>
            <a:custGeom>
              <a:avLst/>
              <a:gdLst/>
              <a:ahLst/>
              <a:cxnLst/>
              <a:rect r="r" b="b" t="t" l="l"/>
              <a:pathLst>
                <a:path h="103188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31889"/>
                  </a:lnTo>
                  <a:lnTo>
                    <a:pt x="0" y="10318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542" r="0" b="-36215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128480" cy="1031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Beyond Week 4: ML-based classification, custom dashboards, team notifications, and the Drift AI Copilot follow in Phase 2/3 of the product roadmap.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466344" cy="500049"/>
            <a:chOff x="0" y="0"/>
            <a:chExt cx="621792" cy="6667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" cy="666733"/>
            </a:xfrm>
            <a:custGeom>
              <a:avLst/>
              <a:gdLst/>
              <a:ahLst/>
              <a:cxnLst/>
              <a:rect r="r" b="b" t="t" l="l"/>
              <a:pathLst>
                <a:path h="666733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6733"/>
                  </a:lnTo>
                  <a:lnTo>
                    <a:pt x="0" y="6667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67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21792" cy="666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99032" y="754380"/>
            <a:ext cx="2194560" cy="466344"/>
            <a:chOff x="0" y="0"/>
            <a:chExt cx="2926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spc="33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77340"/>
            <a:ext cx="13716000" cy="431889"/>
            <a:chOff x="0" y="0"/>
            <a:chExt cx="18288000" cy="575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575852"/>
            </a:xfrm>
            <a:custGeom>
              <a:avLst/>
              <a:gdLst/>
              <a:ahLst/>
              <a:cxnLst/>
              <a:rect r="r" b="b" t="t" l="l"/>
              <a:pathLst>
                <a:path h="5758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75852"/>
                  </a:lnTo>
                  <a:lnTo>
                    <a:pt x="0" y="575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171" r="0" b="-5664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88000" cy="575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spc="333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WRAP-UP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380" y="1988820"/>
            <a:ext cx="15087600" cy="1366559"/>
            <a:chOff x="0" y="0"/>
            <a:chExt cx="20116800" cy="18220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1822078"/>
            </a:xfrm>
            <a:custGeom>
              <a:avLst/>
              <a:gdLst/>
              <a:ahLst/>
              <a:cxnLst/>
              <a:rect r="r" b="b" t="t" l="l"/>
              <a:pathLst>
                <a:path h="1822078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822078"/>
                  </a:lnTo>
                  <a:lnTo>
                    <a:pt x="0" y="18220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60" r="0" b="-1602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0116800" cy="1831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39"/>
                </a:lnSpc>
              </a:pPr>
              <a:r>
                <a:rPr lang="en-US" sz="61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Conclusion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2960" y="3509010"/>
            <a:ext cx="15636240" cy="333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242" indent="-208121" lvl="1">
              <a:lnSpc>
                <a:spcPts val="3311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Drift turns opaque CI/CD pipelines into an interactive, visual, intelligent system for developers</a:t>
            </a:r>
          </a:p>
          <a:p>
            <a:pPr algn="l" marL="416242" indent="-208121" lvl="1">
              <a:lnSpc>
                <a:spcPts val="3311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 the halfway mark: auth, data model, the 6-stage canvas, and the 3D hero experience are complete</a:t>
            </a:r>
          </a:p>
          <a:p>
            <a:pPr algn="l" marL="416242" indent="-208121" lvl="1">
              <a:lnSpc>
                <a:spcPts val="3311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remaining work — real CI ingestion, live updates, and failure classification — is scoped and scheduled</a:t>
            </a:r>
          </a:p>
          <a:p>
            <a:pPr algn="l" marL="416242" indent="-208121" lvl="1">
              <a:lnSpc>
                <a:spcPts val="3311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confirms visualization and ML classification are each proven separately; Drift's contribution is unifying them in one workflow</a:t>
            </a:r>
          </a:p>
          <a:p>
            <a:pPr algn="l" marL="416242" indent="-208121" lvl="1">
              <a:lnSpc>
                <a:spcPts val="3311"/>
              </a:lnSpc>
              <a:buFont typeface="Arial"/>
              <a:buChar char="•"/>
            </a:pPr>
            <a:r>
              <a:rPr lang="en-US" sz="2299">
                <a:solidFill>
                  <a:srgbClr val="0F17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impact: less time reading logs, faster root-cause identification, and shorter MTTR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669780"/>
            <a:ext cx="13716000" cy="480060"/>
            <a:chOff x="0" y="0"/>
            <a:chExt cx="182880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82880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6C7FA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"See your pipelines. Understand your failures. Ship with confidence."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459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699">
                  <a:solidFill>
                    <a:srgbClr val="8CA0C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 / 11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1980" y="548640"/>
            <a:ext cx="411480" cy="411480"/>
            <a:chOff x="0" y="0"/>
            <a:chExt cx="5486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41980" y="548640"/>
            <a:ext cx="411480" cy="454380"/>
            <a:chOff x="0" y="0"/>
            <a:chExt cx="548640" cy="6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" cy="605840"/>
            </a:xfrm>
            <a:custGeom>
              <a:avLst/>
              <a:gdLst/>
              <a:ahLst/>
              <a:cxnLst/>
              <a:rect r="r" b="b" t="t" l="l"/>
              <a:pathLst>
                <a:path h="6058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05840"/>
                  </a:lnTo>
                  <a:lnTo>
                    <a:pt x="0" y="6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94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48640" cy="6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1"/>
                </a:lnSpc>
              </a:pPr>
              <a:r>
                <a:rPr lang="en-US" sz="2099">
                  <a:solidFill>
                    <a:srgbClr val="0B12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3188" y="548640"/>
            <a:ext cx="1783080" cy="427442"/>
            <a:chOff x="0" y="0"/>
            <a:chExt cx="2377440" cy="5699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7440" cy="569923"/>
            </a:xfrm>
            <a:custGeom>
              <a:avLst/>
              <a:gdLst/>
              <a:ahLst/>
              <a:cxnLst/>
              <a:rect r="r" b="b" t="t" l="l"/>
              <a:pathLst>
                <a:path h="569923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69923"/>
                  </a:lnTo>
                  <a:lnTo>
                    <a:pt x="0" y="5699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49" r="0" b="-294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77440" cy="588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3"/>
                </a:lnSpc>
              </a:pPr>
              <a:r>
                <a:rPr lang="en-US" sz="194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DRIFT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76072"/>
            <a:ext cx="13030200" cy="454380"/>
            <a:chOff x="0" y="0"/>
            <a:chExt cx="17373600" cy="6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05840"/>
            </a:xfrm>
            <a:custGeom>
              <a:avLst/>
              <a:gdLst/>
              <a:ahLst/>
              <a:cxnLst/>
              <a:rect r="r" b="b" t="t" l="l"/>
              <a:pathLst>
                <a:path h="6058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05840"/>
                  </a:lnTo>
                  <a:lnTo>
                    <a:pt x="0" y="6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90" r="0" b="-5040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373600" cy="6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099">
                  <a:solidFill>
                    <a:srgbClr val="2DD4B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SOURCES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676120" cy="1054912"/>
            <a:chOff x="0" y="0"/>
            <a:chExt cx="19568160" cy="1406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406550"/>
            </a:xfrm>
            <a:custGeom>
              <a:avLst/>
              <a:gdLst/>
              <a:ahLst/>
              <a:cxnLst/>
              <a:rect r="r" b="b" t="t" l="l"/>
              <a:pathLst>
                <a:path h="140655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406550"/>
                  </a:lnTo>
                  <a:lnTo>
                    <a:pt x="0" y="1406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572" r="0" b="-2165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9568160" cy="14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35"/>
                </a:lnSpc>
              </a:pPr>
              <a:r>
                <a:rPr lang="en-US" sz="4799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References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0" y="9710928"/>
            <a:ext cx="1234440" cy="411480"/>
            <a:chOff x="0" y="0"/>
            <a:chExt cx="1645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75"/>
                </a:lnSpc>
              </a:pPr>
              <a:r>
                <a:rPr lang="en-US" sz="1799">
                  <a:solidFill>
                    <a:srgbClr val="64748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11 / 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564892"/>
            <a:ext cx="466344" cy="466344"/>
            <a:chOff x="0" y="0"/>
            <a:chExt cx="62179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564892"/>
            <a:ext cx="466344" cy="466344"/>
            <a:chOff x="0" y="0"/>
            <a:chExt cx="621792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77340" y="2537460"/>
            <a:ext cx="15841980" cy="685800"/>
            <a:chOff x="0" y="0"/>
            <a:chExt cx="211226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226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04" r="0" b="-4001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122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Révész, Á., &amp; Pataki, N. (2022). Visualisation of Jenkins Pipelines. Acta Cybernetica, 25, 877–895.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3319272"/>
            <a:ext cx="466344" cy="466344"/>
            <a:chOff x="0" y="0"/>
            <a:chExt cx="621792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3319272"/>
            <a:ext cx="466344" cy="466344"/>
            <a:chOff x="0" y="0"/>
            <a:chExt cx="62179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77340" y="3291840"/>
            <a:ext cx="15841980" cy="774174"/>
            <a:chOff x="0" y="0"/>
            <a:chExt cx="21122640" cy="10322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122639" cy="1032232"/>
            </a:xfrm>
            <a:custGeom>
              <a:avLst/>
              <a:gdLst/>
              <a:ahLst/>
              <a:cxnLst/>
              <a:rect r="r" b="b" t="t" l="l"/>
              <a:pathLst>
                <a:path h="1032232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32232"/>
                  </a:lnTo>
                  <a:lnTo>
                    <a:pt x="0" y="1032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431" r="0" b="-34301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1122640" cy="104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Oberhauser, R. VR-GitEvo+CI/CD: Visualizing the Evolution of Git Repositories and CI/CD Pipelines in Virtual Reality. Aalen University.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4073652"/>
            <a:ext cx="466344" cy="466344"/>
            <a:chOff x="0" y="0"/>
            <a:chExt cx="621792" cy="621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4073652"/>
            <a:ext cx="466344" cy="466344"/>
            <a:chOff x="0" y="0"/>
            <a:chExt cx="621792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77340" y="4046220"/>
            <a:ext cx="15841980" cy="774174"/>
            <a:chOff x="0" y="0"/>
            <a:chExt cx="21122640" cy="10322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122639" cy="1032232"/>
            </a:xfrm>
            <a:custGeom>
              <a:avLst/>
              <a:gdLst/>
              <a:ahLst/>
              <a:cxnLst/>
              <a:rect r="r" b="b" t="t" l="l"/>
              <a:pathLst>
                <a:path h="1032232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32232"/>
                  </a:lnTo>
                  <a:lnTo>
                    <a:pt x="0" y="1032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431" r="0" b="-3430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122640" cy="104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Samoud, A., Aissat, S., Bordeleau, F., &amp; Tizghadam, A. (2026). A Model-Driven Digital Twin for the Systematic Improvement of DevOps Pipelines. arXiv:2604.02077.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4828032"/>
            <a:ext cx="466344" cy="466344"/>
            <a:chOff x="0" y="0"/>
            <a:chExt cx="621792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4828032"/>
            <a:ext cx="466344" cy="466344"/>
            <a:chOff x="0" y="0"/>
            <a:chExt cx="621792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7340" y="4800600"/>
            <a:ext cx="15841980" cy="774174"/>
            <a:chOff x="0" y="0"/>
            <a:chExt cx="21122640" cy="10322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122639" cy="1032232"/>
            </a:xfrm>
            <a:custGeom>
              <a:avLst/>
              <a:gdLst/>
              <a:ahLst/>
              <a:cxnLst/>
              <a:rect r="r" b="b" t="t" l="l"/>
              <a:pathLst>
                <a:path h="1032232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32232"/>
                  </a:lnTo>
                  <a:lnTo>
                    <a:pt x="0" y="1032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431" r="0" b="-34301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122640" cy="104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Understanding CI/CD Workflow Runs Through Interactive and Animated Visualizations. ICPC 2026, Early Research Achievements track.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5582412"/>
            <a:ext cx="466344" cy="466344"/>
            <a:chOff x="0" y="0"/>
            <a:chExt cx="621792" cy="6217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22960" y="5582412"/>
            <a:ext cx="466344" cy="466344"/>
            <a:chOff x="0" y="0"/>
            <a:chExt cx="621792" cy="621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77340" y="5554980"/>
            <a:ext cx="15841980" cy="685800"/>
            <a:chOff x="0" y="0"/>
            <a:chExt cx="2112264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1226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04" r="0" b="-4001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1122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Patel, D. (2023). A Study on Justifying Platform-Independent CI/CD Pipelines. McMaster University (Master's thesis).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6336792"/>
            <a:ext cx="466344" cy="466344"/>
            <a:chOff x="0" y="0"/>
            <a:chExt cx="621792" cy="621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22960" y="6336792"/>
            <a:ext cx="466344" cy="466344"/>
            <a:chOff x="0" y="0"/>
            <a:chExt cx="621792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77340" y="6309360"/>
            <a:ext cx="15841980" cy="685800"/>
            <a:chOff x="0" y="0"/>
            <a:chExt cx="2112264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1226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04" r="0" b="-40010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1122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Buildkite. Visualize your CI/CD pipeline on a canvas. Buildkite Engineering Blog.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7091172"/>
            <a:ext cx="466344" cy="466344"/>
            <a:chOff x="0" y="0"/>
            <a:chExt cx="621792" cy="6217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7091172"/>
            <a:ext cx="466344" cy="466344"/>
            <a:chOff x="0" y="0"/>
            <a:chExt cx="621792" cy="6217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77340" y="7063740"/>
            <a:ext cx="15841980" cy="774174"/>
            <a:chOff x="0" y="0"/>
            <a:chExt cx="21122640" cy="10322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122639" cy="1032232"/>
            </a:xfrm>
            <a:custGeom>
              <a:avLst/>
              <a:gdLst/>
              <a:ahLst/>
              <a:cxnLst/>
              <a:rect r="r" b="b" t="t" l="l"/>
              <a:pathLst>
                <a:path h="1032232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32232"/>
                  </a:lnTo>
                  <a:lnTo>
                    <a:pt x="0" y="1032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431" r="0" b="-34301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1122640" cy="104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Brunner, T., Bacchelli, A., &amp; Petrulio, F. (2022). Automatic Flaky Test Detection with Machine Learning at Mozilla. University of Zurich (Bachelor's thesis).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7845552"/>
            <a:ext cx="466344" cy="466344"/>
            <a:chOff x="0" y="0"/>
            <a:chExt cx="621792" cy="6217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2960" y="7845552"/>
            <a:ext cx="466344" cy="466344"/>
            <a:chOff x="0" y="0"/>
            <a:chExt cx="621792" cy="621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3"/>
                </a:lnSpc>
              </a:pPr>
              <a:r>
                <a:rPr lang="en-US" sz="194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77340" y="7818120"/>
            <a:ext cx="15841980" cy="685800"/>
            <a:chOff x="0" y="0"/>
            <a:chExt cx="2112264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1226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04" r="0" b="-40010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1122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0F17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Evaluation of Machine Learning Models in Predicting Software Flakiness. University of Oulu repository.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DAHWE7wwi4g</dc:identifier>
  <dcterms:modified xsi:type="dcterms:W3CDTF">2011-08-01T06:04:30Z</dcterms:modified>
  <cp:revision>1</cp:revision>
  <dc:title>Drift_Platform_Review.pptx</dc:title>
</cp:coreProperties>
</file>